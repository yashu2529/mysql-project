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ncode Sans Semi Condensed SemiBold"/>
      <p:regular r:id="rId201314"/>
    </p:embeddedFont>
    <p:embeddedFont>
      <p:font typeface="Fira Sans"/>
      <p:regular r:id="rId201315"/>
    </p:embeddedFont>
    <p:embeddedFont>
      <p:font typeface="Fira Sans SemiBold"/>
      <p:regular r:id="rId201316"/>
    </p:embeddedFont>
    <p:embeddedFont>
      <p:font typeface="Fira Sans Bold"/>
      <p:regular r:id="rId201317"/>
    </p:embeddedFont>
    <p:embeddedFont>
      <p:font typeface="Overpass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2231771"/>
            <a:ext cx="6476838" cy="1398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spc="-54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Event Ticket Booking Database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12780" y="3748484"/>
            <a:ext cx="647683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reliable MySQL system for discovering events, reserving tickets, processing payments, and tracking bookings.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05123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38607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PROJECT LOGIC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925068"/>
            <a:ext cx="3505112" cy="193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The project turns ticket booking into one controlled 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6088459"/>
            <a:ext cx="38607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One system from discovery to reporting.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51279" y="609600"/>
            <a:ext cx="654034" cy="654050"/>
          </a:xfrm>
          <a:prstGeom prst="ellipse">
            <a:avLst/>
          </a:prstGeom>
          <a:solidFill>
            <a:srgbClr val="00978D"/>
          </a:solidFill>
          <a:ln w="12700">
            <a:solidFill>
              <a:srgbClr val="1999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1137" y="779463"/>
            <a:ext cx="314317" cy="3143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96454" y="609600"/>
            <a:ext cx="654034" cy="654050"/>
          </a:xfrm>
          <a:prstGeom prst="ellipse">
            <a:avLst/>
          </a:prstGeom>
          <a:solidFill>
            <a:srgbClr val="00978D"/>
          </a:solidFill>
          <a:ln w="12700">
            <a:solidFill>
              <a:srgbClr val="1999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312" y="779463"/>
            <a:ext cx="314317" cy="3143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541628" y="609600"/>
            <a:ext cx="654034" cy="654050"/>
          </a:xfrm>
          <a:prstGeom prst="ellipse">
            <a:avLst/>
          </a:prstGeom>
          <a:solidFill>
            <a:srgbClr val="00978D"/>
          </a:solidFill>
          <a:ln w="12700">
            <a:solidFill>
              <a:srgbClr val="19999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487" y="779463"/>
            <a:ext cx="314317" cy="3143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51279" y="2037457"/>
            <a:ext cx="673083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Connected tables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851279" y="2549823"/>
            <a:ext cx="7340416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Customers, events, bookings, and payments live in connected tables.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851279" y="3202980"/>
            <a:ext cx="673083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Visible status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851279" y="3715345"/>
            <a:ext cx="6730832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design keeps availability, payment status, and booking status visible in one system.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4851279" y="4666059"/>
            <a:ext cx="673083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Controlled outcome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4851279" y="5178425"/>
            <a:ext cx="7340416" cy="29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Goal: prevent invalid bookings while giving staff useful reporting data.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6858000"/>
          </a:xfrm>
          <a:prstGeom prst="rect">
            <a:avLst/>
          </a:prstGeom>
          <a:solidFill>
            <a:srgbClr val="051230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029619"/>
            <a:ext cx="34543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FFFFFF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2345087"/>
            <a:ext cx="3124122" cy="193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Four core tables model the booking journey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4454128"/>
            <a:ext cx="31241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booking is the bridge between customer, event, and payment.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291" y="1387574"/>
            <a:ext cx="7315017" cy="40828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304800"/>
            <a:ext cx="1173450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INTEGRITY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620268"/>
            <a:ext cx="11277318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Relationships keep the data consistent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271984"/>
            <a:ext cx="523862" cy="5238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92868" y="1275556"/>
            <a:ext cx="96416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Constraints act as guardrails around the booking model.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57189" y="1983184"/>
            <a:ext cx="3555911" cy="2699544"/>
          </a:xfrm>
          <a:prstGeom prst="roundRect">
            <a:avLst>
              <a:gd name="adj" fmla="val 3260"/>
            </a:avLst>
          </a:prstGeom>
          <a:solidFill>
            <a:srgbClr val="0E1D4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3" y="2211784"/>
            <a:ext cx="419090" cy="4191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783" y="2751534"/>
            <a:ext cx="309872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Ownership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85783" y="3263900"/>
            <a:ext cx="3098722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booking belongs to one customer and one event through foreign keys.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4317892" y="1983184"/>
            <a:ext cx="3555911" cy="2699544"/>
          </a:xfrm>
          <a:prstGeom prst="roundRect">
            <a:avLst>
              <a:gd name="adj" fmla="val 3260"/>
            </a:avLst>
          </a:prstGeom>
          <a:solidFill>
            <a:srgbClr val="0E1D4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486" y="2211784"/>
            <a:ext cx="419090" cy="4191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46486" y="2751534"/>
            <a:ext cx="309872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Traceability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546486" y="3263900"/>
            <a:ext cx="3098722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Each payment is tied to a booking, creating a traceable money trail.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8178595" y="1983184"/>
            <a:ext cx="3555911" cy="2699544"/>
          </a:xfrm>
          <a:prstGeom prst="roundRect">
            <a:avLst>
              <a:gd name="adj" fmla="val 3260"/>
            </a:avLst>
          </a:prstGeom>
          <a:solidFill>
            <a:srgbClr val="0E1D4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190" y="2211784"/>
            <a:ext cx="419090" cy="4191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07190" y="2751534"/>
            <a:ext cx="309872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Safe values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8407190" y="3263900"/>
            <a:ext cx="3098722" cy="1190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Checks protect positive ticket quantities, non-negative amounts, and valid availability ranges.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711182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SAMPLE INVENTORY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48868"/>
            <a:ext cx="6730832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Sample data proves the system supports varied events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76103"/>
            <a:ext cx="6349841" cy="317658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0E1D4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199" y="533400"/>
            <a:ext cx="3555911" cy="5302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26199" y="5924947"/>
            <a:ext cx="355591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Five seeded events span different types, prices, and capacities.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97633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STORED 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2013101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The booking procedure protects every reservation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610842"/>
            <a:ext cx="8217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00978D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09585" y="2904232"/>
            <a:ext cx="1950592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050262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478808"/>
            <a:ext cx="1950691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Validate customer and ticket quantity.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864969" y="2610842"/>
            <a:ext cx="83589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00978D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864969" y="2904232"/>
            <a:ext cx="1950592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3050262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64969" y="3478808"/>
            <a:ext cx="1950691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Lock the selected event row and read current availability.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120353" y="2610842"/>
            <a:ext cx="8367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00978D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120353" y="2904232"/>
            <a:ext cx="1950889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353" y="3048992"/>
            <a:ext cx="1724180" cy="326827"/>
          </a:xfrm>
          <a:prstGeom prst="roundRect">
            <a:avLst>
              <a:gd name="adj" fmla="val 21543"/>
            </a:avLst>
          </a:prstGeom>
          <a:solidFill>
            <a:srgbClr val="004D47"/>
          </a:solidFill>
          <a:ln/>
        </p:spPr>
      </p:sp>
      <p:sp>
        <p:nvSpPr>
          <p:cNvPr id="15" name="Text 13"/>
          <p:cNvSpPr/>
          <p:nvPr/>
        </p:nvSpPr>
        <p:spPr>
          <a:xfrm>
            <a:off x="5246060" y="3111798"/>
            <a:ext cx="1825182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9" kern="100" dirty="0">
                <a:solidFill>
                  <a:srgbClr val="C9CFE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DECISION GATE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353" y="3462814"/>
            <a:ext cx="195088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Reject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20353" y="3891359"/>
            <a:ext cx="1950889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Reject the request when the event is missing or sold out.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375936" y="2610842"/>
            <a:ext cx="84770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00978D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375936" y="2904232"/>
            <a:ext cx="1950592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20" name="Text 18"/>
          <p:cNvSpPr/>
          <p:nvPr/>
        </p:nvSpPr>
        <p:spPr>
          <a:xfrm>
            <a:off x="7375936" y="3050262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Confirm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75936" y="3478808"/>
            <a:ext cx="1950691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Calculate the total and insert a confirmed booking.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631320" y="2610842"/>
            <a:ext cx="84135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50" dirty="0">
                <a:solidFill>
                  <a:srgbClr val="00978D"/>
                </a:solidFill>
                <a:latin typeface="Fira Sans SemiBold" pitchFamily="34" charset="0"/>
                <a:ea typeface="Fira Sans SemiBold" pitchFamily="34" charset="-122"/>
                <a:cs typeface="Fira Sans SemiBold" pitchFamily="34" charset="-120"/>
              </a:rPr>
              <a:t>05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631320" y="2904232"/>
            <a:ext cx="1950691" cy="19050"/>
          </a:xfrm>
          <a:prstGeom prst="rect">
            <a:avLst/>
          </a:prstGeom>
          <a:solidFill>
            <a:srgbClr val="00978D"/>
          </a:solidFill>
          <a:ln/>
        </p:spPr>
      </p:sp>
      <p:sp>
        <p:nvSpPr>
          <p:cNvPr id="24" name="Text 22"/>
          <p:cNvSpPr/>
          <p:nvPr/>
        </p:nvSpPr>
        <p:spPr>
          <a:xfrm>
            <a:off x="9631320" y="3050262"/>
            <a:ext cx="195079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Commit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31320" y="3478808"/>
            <a:ext cx="1950790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Reduce available tickets and commit the transaction.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09585" y="4974927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decision gate is explicit: missing or sold-out events do not reach confirmation.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TRANSACTION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4886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Transactions prevent partial bookings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472009"/>
            <a:ext cx="5333867" cy="3801864"/>
          </a:xfrm>
          <a:prstGeom prst="rect">
            <a:avLst/>
          </a:prstGeom>
          <a:solidFill>
            <a:srgbClr val="006F68"/>
          </a:solidFill>
          <a:ln/>
        </p:spPr>
      </p:sp>
      <p:sp>
        <p:nvSpPr>
          <p:cNvPr id="5" name="Shape 3"/>
          <p:cNvSpPr/>
          <p:nvPr/>
        </p:nvSpPr>
        <p:spPr>
          <a:xfrm>
            <a:off x="990575" y="1827609"/>
            <a:ext cx="1950691" cy="326827"/>
          </a:xfrm>
          <a:prstGeom prst="roundRect">
            <a:avLst>
              <a:gd name="adj" fmla="val 21543"/>
            </a:avLst>
          </a:prstGeom>
          <a:solidFill>
            <a:srgbClr val="004D47"/>
          </a:solidFill>
          <a:ln/>
        </p:spPr>
      </p:sp>
      <p:sp>
        <p:nvSpPr>
          <p:cNvPr id="6" name="Text 4"/>
          <p:cNvSpPr/>
          <p:nvPr/>
        </p:nvSpPr>
        <p:spPr>
          <a:xfrm>
            <a:off x="1116282" y="1890415"/>
            <a:ext cx="2308862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9" kern="100" dirty="0">
                <a:solidFill>
                  <a:srgbClr val="C9CFE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SUCCESSFUL PATH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0575" y="2339602"/>
            <a:ext cx="4571886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Commit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90575" y="2917031"/>
            <a:ext cx="4571886" cy="2026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booking flow starts a transaction before changing inventory.</a:t>
            </a:r>
            <a:endParaRPr lang="en-US" sz="1650" dirty="0"/>
          </a:p>
          <a:p>
            <a:pPr algn="l"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Row locking helps protect availability during concurrent booking attempts.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Booking plus inventory update completes together.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248244" y="1472009"/>
            <a:ext cx="5333867" cy="3801864"/>
          </a:xfrm>
          <a:prstGeom prst="rect">
            <a:avLst/>
          </a:prstGeom>
          <a:solidFill>
            <a:srgbClr val="B33A1B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234" y="1827609"/>
            <a:ext cx="1384265" cy="326827"/>
          </a:xfrm>
          <a:prstGeom prst="roundRect">
            <a:avLst>
              <a:gd name="adj" fmla="val 21543"/>
            </a:avLst>
          </a:prstGeom>
          <a:solidFill>
            <a:srgbClr val="004D47"/>
          </a:solidFill>
          <a:ln/>
        </p:spPr>
      </p:sp>
      <p:sp>
        <p:nvSpPr>
          <p:cNvPr id="11" name="Text 9"/>
          <p:cNvSpPr/>
          <p:nvPr/>
        </p:nvSpPr>
        <p:spPr>
          <a:xfrm>
            <a:off x="6754941" y="1890415"/>
            <a:ext cx="1742436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9" kern="100" dirty="0">
                <a:solidFill>
                  <a:srgbClr val="C9CFE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ERROR PATH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234" y="2339602"/>
            <a:ext cx="4571886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30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Rollback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29234" y="2917031"/>
            <a:ext cx="4571886" cy="172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Exceptions trigger rollback.</a:t>
            </a:r>
            <a:endParaRPr lang="en-US" sz="1650" dirty="0"/>
          </a:p>
          <a:p>
            <a:pPr algn="l" indent="0" marL="0">
              <a:lnSpc>
                <a:spcPct val="118000"/>
              </a:lnSpc>
              <a:spcAft>
                <a:spcPts val="9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Failed requests do not leave half-completed updates.</a:t>
            </a:r>
            <a:endParaRPr lang="en-US" sz="16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reservation and inventory change are undone together.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09585" y="6164659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reservation is either complete or it leaves no partial state behind.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AUTOMATIC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506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Triggers add automatic safety checks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576784"/>
            <a:ext cx="3454314" cy="4671616"/>
          </a:xfrm>
          <a:prstGeom prst="roundRect">
            <a:avLst>
              <a:gd name="adj" fmla="val 2548"/>
            </a:avLst>
          </a:prstGeom>
          <a:solidFill>
            <a:srgbClr val="0E1D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805384"/>
            <a:ext cx="41909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345134"/>
            <a:ext cx="32257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C9CFE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BEFORE INSERT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179" y="2621359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Confirmed booking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8179" y="3133725"/>
            <a:ext cx="2997125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Block confirmed bookings that exceed available tickets.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368691" y="1576784"/>
            <a:ext cx="3454314" cy="4671616"/>
          </a:xfrm>
          <a:prstGeom prst="roundRect">
            <a:avLst>
              <a:gd name="adj" fmla="val 2548"/>
            </a:avLst>
          </a:prstGeom>
          <a:solidFill>
            <a:srgbClr val="0E1D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1805384"/>
            <a:ext cx="41909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285" y="2345134"/>
            <a:ext cx="32257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C9CFE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AFTER CANCELLATION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97285" y="2621359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Availability restored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97285" y="3133725"/>
            <a:ext cx="2997125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Restore the cancelled ticket quantity to event availability.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8127797" y="1576784"/>
            <a:ext cx="3454314" cy="4671616"/>
          </a:xfrm>
          <a:prstGeom prst="roundRect">
            <a:avLst>
              <a:gd name="adj" fmla="val 2548"/>
            </a:avLst>
          </a:prstGeom>
          <a:solidFill>
            <a:srgbClr val="0E1D4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1805384"/>
            <a:ext cx="41909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6391" y="2345134"/>
            <a:ext cx="322571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C9CFE0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BEFORE PAYMENT INSERT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356391" y="2621359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Payment amount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356391" y="3133725"/>
            <a:ext cx="2997125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Reject negative payment amounts.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REPORTING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2346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Views, joins, and indexes turn data into decisions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421209"/>
            <a:ext cx="2514537" cy="2914551"/>
          </a:xfrm>
          <a:prstGeom prst="roundRect">
            <a:avLst>
              <a:gd name="adj" fmla="val 3500"/>
            </a:avLst>
          </a:prstGeom>
          <a:solidFill>
            <a:srgbClr val="0E1D4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649809"/>
            <a:ext cx="41909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190829"/>
            <a:ext cx="20573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Customer bookings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8179" y="2619375"/>
            <a:ext cx="2057349" cy="1487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booking_details view combines customer, event, booking quantity, status, and amount.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3428914" y="1421209"/>
            <a:ext cx="2514537" cy="2914551"/>
          </a:xfrm>
          <a:prstGeom prst="roundRect">
            <a:avLst>
              <a:gd name="adj" fmla="val 3500"/>
            </a:avLst>
          </a:prstGeom>
          <a:solidFill>
            <a:srgbClr val="0E1D4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1649809"/>
            <a:ext cx="419090" cy="419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509" y="2190829"/>
            <a:ext cx="20573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Confirmed bookings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657509" y="2619375"/>
            <a:ext cx="2057349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Joins answer who booked which event and for how much.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6248244" y="1421209"/>
            <a:ext cx="2514537" cy="2914551"/>
          </a:xfrm>
          <a:prstGeom prst="roundRect">
            <a:avLst>
              <a:gd name="adj" fmla="val 3500"/>
            </a:avLst>
          </a:prstGeom>
          <a:solidFill>
            <a:srgbClr val="0E1D4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38" y="1649809"/>
            <a:ext cx="419090" cy="4191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76838" y="2190829"/>
            <a:ext cx="20573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Event totals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76838" y="2619375"/>
            <a:ext cx="2057349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GROUP BY and HAVING surface event booking counts.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9067573" y="1421209"/>
            <a:ext cx="2514537" cy="2914551"/>
          </a:xfrm>
          <a:prstGeom prst="roundRect">
            <a:avLst>
              <a:gd name="adj" fmla="val 3500"/>
            </a:avLst>
          </a:prstGeom>
          <a:solidFill>
            <a:srgbClr val="0E1D4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167" y="1649809"/>
            <a:ext cx="419090" cy="419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96167" y="2190829"/>
            <a:ext cx="205734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Date search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296167" y="2619375"/>
            <a:ext cx="2057349" cy="59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C9CFE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 index supports date-based searches.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09585" y="6164659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B1CA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database becomes a reporting tool, not only a place to store bookings.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72" kern="100" dirty="0">
                <a:solidFill>
                  <a:srgbClr val="DCE1EE"/>
                </a:solidFill>
                <a:latin typeface="Overpass Mono Medium" pitchFamily="34" charset="0"/>
                <a:ea typeface="Overpass Mono Medium" pitchFamily="34" charset="-122"/>
                <a:cs typeface="Overpass Mono Medium" pitchFamily="34" charset="-120"/>
              </a:rPr>
              <a:t>PROJECT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48868"/>
            <a:ext cx="10972526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600" spc="-36" kern="100" dirty="0">
                <a:solidFill>
                  <a:srgbClr val="FFFFFF"/>
                </a:solidFill>
                <a:latin typeface="Encode Sans Semi Condensed SemiBold" pitchFamily="34" charset="0"/>
                <a:ea typeface="Encode Sans Semi Condensed SemiBold" pitchFamily="34" charset="-122"/>
                <a:cs typeface="Encode Sans Semi Condensed SemiBold" pitchFamily="34" charset="-120"/>
              </a:rPr>
              <a:t>What the project demonstrates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46609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98"/>
                <a:gridCol w="8339127"/>
              </a:tblGrid>
              <a:tr h="4650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Normalized model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 normalized model connects the full ticket lifecycle from customer to payment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0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Safer operation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Procedures, constraints, transactions, and triggers make the system safer to operate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0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Useful analysis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Views and analytical queries make the database useful beyond data entry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0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Next step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C9CFE0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Next step: add authentication, a user interface, refunds, and real-time notifications</a:t>
                      </a:r>
                      <a:endParaRPr lang="en-US" sz="16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59" marR="157159" marT="83818" marB="83818" anchor="ctr">
                    <a:lnL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512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2026-10-12T17:40:20Z</dcterms:created>
  <dcterms:modified xsi:type="dcterms:W3CDTF">2026-10-12T17:40:20Z</dcterms:modified>
</cp:coreProperties>
</file>